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【开场】各位老师、同学好，我是余翔宇。我介绍的项目叫 CodeStreak，一个跑在 HarmonyOS 上的跨平台刷题打卡应用。</a:t>
            </a:r>
          </a:p>
          <a:p/>
          <a:p>
            <a:r>
              <a:t>【产品问题】我们刷题通常散在 Codeforces、AtCoder、洛谷、牛客、LeetCode 五个平台。今天做了几题、连续了几天、下一场比赛什么时候，要来回切好几个网站。CodeStreak 想把这些收在一个应用里。</a:t>
            </a:r>
          </a:p>
          <a:p/>
          <a:p>
            <a:r>
              <a:t>【功能 1 今日打卡】每天给自己定 2 道题：目标卡算一道，竞赛挑战算一道。完成第一道，进度从 0/2 变成 1/2；第二道拉满 2/2，连续天数加一，会弹一个庆祝反馈。没有网络也能打卡，数据存在本机。</a:t>
            </a:r>
          </a:p>
          <a:p/>
          <a:p>
            <a:r>
              <a:t>【功能 2 题单矩阵】上面可以切「求职高频」和「算法竞赛」，两条赛道的题单和题目是分开的，不会混；平台多选、难度单选；点题单卡直接打开官方题单页。</a:t>
            </a:r>
          </a:p>
          <a:p/>
          <a:p>
            <a:r>
              <a:t>【功能 3 比赛日历】ICPC、CCPC 分站赛，加上 Codeforces 和 AtCoder 的赛程，按时间排好；点一下去报名或看榜单。</a:t>
            </a:r>
          </a:p>
          <a:p/>
          <a:p>
            <a:r>
              <a:t>【指截图】右边是首页实机截图：当前连胜、今日进度、本周矩阵、今日推荐和竞赛挑战都在这一屏。底部五个平台就是同步范围。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【过渡】那它凭什么可信？看第二页。</a:t>
            </a:r>
          </a:p>
          <a:p/>
          <a:p>
            <a:r>
              <a:t>【三条主线】第二页讲三件事：数据是不是真的、同步能不能用、工程是不是可交付。</a:t>
            </a:r>
          </a:p>
          <a:p/>
          <a:p>
            <a:r>
              <a:t>【第 1 条 真实数据】今日 AC、连续天数、热力图、难度分布，全部从本地数据库算出来。没有数据就显示空态，不会拿 0/60、93% 这种演示数字糊弄人。这是整个项目最坚持的一点。</a:t>
            </a:r>
          </a:p>
          <a:p/>
          <a:p>
            <a:r>
              <a:t>【第 2 条 五平台同步】五个平台都接了：公开 API 直接拉；需要登录的用内置 WebView 登录后导入。请求有节流，失败按 1 分钟、5 分钟、15 分钟退避重试，不会一直打平台接口。</a:t>
            </a:r>
          </a:p>
          <a:p/>
          <a:p>
            <a:r>
              <a:t>【第 3 条 工程质量】90 条单元测试全部通过，行覆盖率 87.7%；分层图标、隐私说明、发布前自测报告都做了；代码用 Git 管理，已开源在 GitHub。</a:t>
            </a:r>
          </a:p>
          <a:p/>
          <a:p>
            <a:r>
              <a:t>【指左侧动图】左边这段是真实操作：打卡、切赛道、关掉一个平台看筛选、打开比赛日历，都是模拟器实录，不是做的动画。</a:t>
            </a:r>
          </a:p>
          <a:p/>
          <a:p>
            <a:r>
              <a:t>【指底部数字】90 条单测、87.7% 行覆盖、5 个平台同步。</a:t>
            </a:r>
          </a:p>
          <a:p/>
          <a:p>
            <a:r>
              <a:t>【收尾】一句话：CodeStreak 不是又一个题库，而是把「每天做两题」变得看得见、接得上、断不了。谢谢大家。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gif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54864" cy="1371600"/>
          </a:xfrm>
          <a:prstGeom prst="rect">
            <a:avLst/>
          </a:prstGeom>
          <a:solidFill>
            <a:srgbClr val="FFA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84048"/>
            <a:ext cx="7680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FFA116"/>
                </a:solidFill>
                <a:latin typeface="Microsoft YaHei"/>
                <a:ea typeface="Microsoft YaHei"/>
              </a:rPr>
              <a:t>CodeStreak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F2F5F9"/>
                </a:solidFill>
                <a:latin typeface="Microsoft YaHei"/>
                <a:ea typeface="Microsoft YaHei"/>
              </a:rPr>
              <a:t>把刷题变成不断裂的连胜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417320"/>
            <a:ext cx="7589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9AA6B2"/>
                </a:solidFill>
                <a:latin typeface="Microsoft YaHei"/>
                <a:ea typeface="Microsoft YaHei"/>
              </a:rPr>
              <a:t>面向算法竞赛与求职面试的 HarmonyOS 跨平台刷题打卡与赛训助手</a:t>
            </a:r>
          </a:p>
        </p:txBody>
      </p:sp>
      <p:sp>
        <p:nvSpPr>
          <p:cNvPr id="6" name="Oval 5"/>
          <p:cNvSpPr/>
          <p:nvPr/>
        </p:nvSpPr>
        <p:spPr>
          <a:xfrm>
            <a:off x="713232" y="2221991"/>
            <a:ext cx="384048" cy="384048"/>
          </a:xfrm>
          <a:prstGeom prst="ellipse">
            <a:avLst/>
          </a:prstGeom>
          <a:solidFill>
            <a:srgbClr val="FFA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10141A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2176272"/>
            <a:ext cx="6949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>
                <a:solidFill>
                  <a:srgbClr val="F2F5F9"/>
                </a:solidFill>
                <a:latin typeface="Microsoft YaHei"/>
                <a:ea typeface="Microsoft YaHei"/>
              </a:rPr>
              <a:t>今日打卡｜每天 2 题，连胜不断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2542032"/>
            <a:ext cx="68580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9AA6B2"/>
                </a:solidFill>
                <a:latin typeface="Microsoft YaHei"/>
                <a:ea typeface="Microsoft YaHei"/>
              </a:rPr>
              <a:t>目标卡 + 竞赛挑战双入口；周矩阵、最长连胜与庆祝反馈，离线也能打卡。</a:t>
            </a:r>
          </a:p>
        </p:txBody>
      </p:sp>
      <p:sp>
        <p:nvSpPr>
          <p:cNvPr id="9" name="Oval 8"/>
          <p:cNvSpPr/>
          <p:nvPr/>
        </p:nvSpPr>
        <p:spPr>
          <a:xfrm>
            <a:off x="713232" y="3392424"/>
            <a:ext cx="384048" cy="384048"/>
          </a:xfrm>
          <a:prstGeom prst="ellipse">
            <a:avLst/>
          </a:prstGeom>
          <a:solidFill>
            <a:srgbClr val="FFA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10141A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3346704"/>
            <a:ext cx="6949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>
                <a:solidFill>
                  <a:srgbClr val="F2F5F9"/>
                </a:solidFill>
                <a:latin typeface="Microsoft YaHei"/>
                <a:ea typeface="Microsoft YaHei"/>
              </a:rPr>
              <a:t>题单矩阵｜求职 / 竞赛分开刷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2" y="3712464"/>
            <a:ext cx="68580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9AA6B2"/>
                </a:solidFill>
                <a:latin typeface="Microsoft YaHei"/>
                <a:ea typeface="Microsoft YaHei"/>
              </a:rPr>
              <a:t>双赛道、难度与平台筛选；题单卡直达官方页，进度按真实 AC 计算。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4562856"/>
            <a:ext cx="384048" cy="384048"/>
          </a:xfrm>
          <a:prstGeom prst="ellipse">
            <a:avLst/>
          </a:prstGeom>
          <a:solidFill>
            <a:srgbClr val="FFA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10141A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4517136"/>
            <a:ext cx="6949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>
                <a:solidFill>
                  <a:srgbClr val="F2F5F9"/>
                </a:solidFill>
                <a:latin typeface="Microsoft YaHei"/>
                <a:ea typeface="Microsoft YaHei"/>
              </a:rPr>
              <a:t>比赛日历｜不再错过下一场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4882896"/>
            <a:ext cx="68580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9AA6B2"/>
                </a:solidFill>
                <a:latin typeface="Microsoft YaHei"/>
                <a:ea typeface="Microsoft YaHei"/>
              </a:rPr>
              <a:t>ICPC/CCPC + Codeforces + AtCoder 真实赛程，一键跳转报名或榜单。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5989320"/>
            <a:ext cx="7726679" cy="457200"/>
          </a:xfrm>
          <a:prstGeom prst="roundRect">
            <a:avLst>
              <a:gd name="adj" fmla="val 12000"/>
            </a:avLst>
          </a:prstGeom>
          <a:solidFill>
            <a:srgbClr val="161C24"/>
          </a:solidFill>
          <a:ln w="9525">
            <a:solidFill>
              <a:srgbClr val="2B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062472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>
                <a:solidFill>
                  <a:srgbClr val="FFA116"/>
                </a:solidFill>
                <a:latin typeface="Microsoft YaHei"/>
                <a:ea typeface="Microsoft YaHei"/>
              </a:rPr>
              <a:t>五平台同步：Codeforces · AtCoder · 洛谷 · 牛客 · LeetCode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96528" y="502920"/>
            <a:ext cx="2880360" cy="5870448"/>
          </a:xfrm>
          <a:prstGeom prst="roundRect">
            <a:avLst>
              <a:gd name="adj" fmla="val 6000"/>
            </a:avLst>
          </a:prstGeom>
          <a:solidFill>
            <a:srgbClr val="161C24"/>
          </a:solidFill>
          <a:ln w="9525">
            <a:solidFill>
              <a:srgbClr val="2B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hom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2832" y="658368"/>
            <a:ext cx="2510765" cy="555955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796528" y="6382512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9AA6B2"/>
                </a:solidFill>
                <a:latin typeface="Microsoft YaHei"/>
                <a:ea typeface="Microsoft YaHei"/>
              </a:rPr>
              <a:t>首页：今日打卡 + 连胜 + 双目标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54864" cy="868680"/>
          </a:xfrm>
          <a:prstGeom prst="rect">
            <a:avLst/>
          </a:prstGeom>
          <a:solidFill>
            <a:srgbClr val="4EDE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1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2F5F9"/>
                </a:solidFill>
                <a:latin typeface="Microsoft YaHei"/>
                <a:ea typeface="Microsoft YaHei"/>
              </a:rPr>
              <a:t>从今天的 2 题，到可复盘的长期节奏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9AA6B2"/>
                </a:solidFill>
                <a:latin typeface="Microsoft YaHei"/>
                <a:ea typeface="Microsoft YaHei"/>
              </a:rPr>
              <a:t>真实数据 · 五平台同步 · 可交付的工程质量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2331720" cy="4617720"/>
          </a:xfrm>
          <a:prstGeom prst="roundRect">
            <a:avLst>
              <a:gd name="adj" fmla="val 6000"/>
            </a:avLst>
          </a:prstGeom>
          <a:solidFill>
            <a:srgbClr val="161C24"/>
          </a:solidFill>
          <a:ln w="9525">
            <a:solidFill>
              <a:srgbClr val="2B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odestreak-demo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591056"/>
            <a:ext cx="1898444" cy="4206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144768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>
                <a:solidFill>
                  <a:srgbClr val="9AA6B2"/>
                </a:solidFill>
                <a:latin typeface="Microsoft YaHei"/>
                <a:ea typeface="Microsoft YaHei"/>
              </a:rPr>
              <a:t>真实操作：打卡 → 切赛道 → 看赛程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3154680" y="1463040"/>
            <a:ext cx="45720" cy="868680"/>
          </a:xfrm>
          <a:prstGeom prst="rect">
            <a:avLst/>
          </a:prstGeom>
          <a:solidFill>
            <a:srgbClr val="FFA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64992" y="1417320"/>
            <a:ext cx="8138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F2F5F9"/>
                </a:solidFill>
                <a:latin typeface="Microsoft YaHei"/>
                <a:ea typeface="Microsoft YaHei"/>
              </a:rPr>
              <a:t>真实数据，拒绝演示数字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64992" y="1783080"/>
            <a:ext cx="81381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9AA6B2"/>
                </a:solidFill>
                <a:latin typeface="Microsoft YaHei"/>
                <a:ea typeface="Microsoft YaHei"/>
              </a:rPr>
              <a:t>今日 AC、连续天数、热力图、难度分布全部来自本地 RDB；没有数据就展示空态，不用 0/60 或 93% 的假进度。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54680" y="2761487"/>
            <a:ext cx="45720" cy="868680"/>
          </a:xfrm>
          <a:prstGeom prst="rect">
            <a:avLst/>
          </a:prstGeom>
          <a:solidFill>
            <a:srgbClr val="4EDE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64992" y="2715768"/>
            <a:ext cx="8138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F2F5F9"/>
                </a:solidFill>
                <a:latin typeface="Microsoft YaHei"/>
                <a:ea typeface="Microsoft YaHei"/>
              </a:rPr>
              <a:t>五平台同步，失败会重试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64992" y="3081527"/>
            <a:ext cx="81381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9AA6B2"/>
                </a:solidFill>
                <a:latin typeface="Microsoft YaHei"/>
                <a:ea typeface="Microsoft YaHei"/>
              </a:rPr>
              <a:t>Codeforces / AtCoder / 洛谷 / 牛客 / LeetCode；请求节流、1/5/15 分钟退避，内置 WebView 登录保存登录态。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54680" y="4059935"/>
            <a:ext cx="45720" cy="868680"/>
          </a:xfrm>
          <a:prstGeom prst="rect">
            <a:avLst/>
          </a:prstGeom>
          <a:solidFill>
            <a:srgbClr val="BF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64992" y="4014215"/>
            <a:ext cx="8138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F2F5F9"/>
                </a:solidFill>
                <a:latin typeface="Microsoft YaHei"/>
                <a:ea typeface="Microsoft YaHei"/>
              </a:rPr>
              <a:t>可交付的工程质量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64992" y="4379976"/>
            <a:ext cx="81381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9AA6B2"/>
                </a:solidFill>
                <a:latin typeface="Microsoft YaHei"/>
                <a:ea typeface="Microsoft YaHei"/>
              </a:rPr>
              <a:t>90 条单元测试、87.7% 行覆盖、分层图标与隐私说明；Git 全程 Conventional Commits，已开源在 GitHub。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54680" y="5486400"/>
            <a:ext cx="2240280" cy="621792"/>
          </a:xfrm>
          <a:prstGeom prst="roundRect">
            <a:avLst>
              <a:gd name="adj" fmla="val 12000"/>
            </a:avLst>
          </a:prstGeom>
          <a:solidFill>
            <a:srgbClr val="1C232D"/>
          </a:solidFill>
          <a:ln w="9525">
            <a:solidFill>
              <a:srgbClr val="2B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19272" y="5550408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A116"/>
                </a:solidFill>
                <a:latin typeface="Microsoft YaHei"/>
                <a:ea typeface="Microsoft YaHei"/>
              </a:rPr>
              <a:t>90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5596128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9AA6B2"/>
                </a:solidFill>
                <a:latin typeface="Microsoft YaHei"/>
                <a:ea typeface="Microsoft YaHei"/>
              </a:rPr>
              <a:t>条单元测试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23560" y="5486400"/>
            <a:ext cx="2240280" cy="621792"/>
          </a:xfrm>
          <a:prstGeom prst="roundRect">
            <a:avLst>
              <a:gd name="adj" fmla="val 12000"/>
            </a:avLst>
          </a:prstGeom>
          <a:solidFill>
            <a:srgbClr val="1C232D"/>
          </a:solidFill>
          <a:ln w="9525">
            <a:solidFill>
              <a:srgbClr val="2B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88152" y="5550408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A116"/>
                </a:solidFill>
                <a:latin typeface="Microsoft YaHei"/>
                <a:ea typeface="Microsoft YaHei"/>
              </a:rPr>
              <a:t>87.7%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5596128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9AA6B2"/>
                </a:solidFill>
                <a:latin typeface="Microsoft YaHei"/>
                <a:ea typeface="Microsoft YaHei"/>
              </a:rPr>
              <a:t>行覆盖率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92440" y="5486400"/>
            <a:ext cx="2240280" cy="621792"/>
          </a:xfrm>
          <a:prstGeom prst="roundRect">
            <a:avLst>
              <a:gd name="adj" fmla="val 12000"/>
            </a:avLst>
          </a:prstGeom>
          <a:solidFill>
            <a:srgbClr val="1C232D"/>
          </a:solidFill>
          <a:ln w="9525">
            <a:solidFill>
              <a:srgbClr val="2B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57032" y="5550408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A116"/>
                </a:solidFill>
                <a:latin typeface="Microsoft YaHei"/>
                <a:ea typeface="Microsoft YaHe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5596128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9AA6B2"/>
                </a:solidFill>
                <a:latin typeface="Microsoft YaHei"/>
                <a:ea typeface="Microsoft YaHei"/>
              </a:rPr>
              <a:t>个平台同步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54680" y="6355080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9AA6B2"/>
                </a:solidFill>
                <a:latin typeface="Microsoft YaHei"/>
                <a:ea typeface="Microsoft YaHei"/>
              </a:rPr>
              <a:t>github.com/acm910/codestreak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635508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9AA6B2"/>
                </a:solidFill>
                <a:latin typeface="Microsoft YaHei"/>
                <a:ea typeface="Microsoft YaHei"/>
              </a:rPr>
              <a:t>02 / 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